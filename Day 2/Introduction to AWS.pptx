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909b34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909b34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eec33d8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eec33d8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eebaf52a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0eebaf52a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5ddbdb006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5ddbdb006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5ddbdb006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5ddbdb006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5ddbdb00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5ddbdb00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5ddbdb006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5ddbdb006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ddbdb006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ddbdb006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5ddbdb006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5ddbdb00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ddbdb006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5ddbdb006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5ddbdb006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5ddbdb006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0eebaf52a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0eebaf52a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.be/a9__D53WsU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aws.amazon.com/AWSEC2/latest/UserGuide/launching-instance.html" TargetMode="External"/><Relationship Id="rId4" Type="http://schemas.openxmlformats.org/officeDocument/2006/relationships/hyperlink" Target="https://console.aws.amazon.com/ec2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935875" y="1216500"/>
            <a:ext cx="34149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AWS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730175" y="4207450"/>
            <a:ext cx="21732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Amar Ganeshkar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105375" y="1325200"/>
            <a:ext cx="51000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80"/>
              <a:t>What is Amazon Web </a:t>
            </a:r>
            <a:r>
              <a:rPr lang="en" sz="3580"/>
              <a:t>Services</a:t>
            </a:r>
            <a:r>
              <a:rPr lang="en" sz="3580"/>
              <a:t>(AWS)</a:t>
            </a:r>
            <a:endParaRPr sz="35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3221"/>
              <a:buNone/>
            </a:pPr>
            <a:r>
              <a:rPr lang="en" sz="2980"/>
              <a:t>What is </a:t>
            </a:r>
            <a:r>
              <a:rPr lang="en" sz="2980"/>
              <a:t>Amazon Web Services(AWS)</a:t>
            </a:r>
            <a:endParaRPr sz="298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Web Services offers a broad set of global cloud-based products including compute, storage, databases, analytics, networking, mobile, developer tools, management tools, IoT, security, and enterprise applications: on-demand, available in seconds, with pay-as-you-go pricing.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What is AWS ?</a:t>
            </a:r>
            <a:br>
              <a:rPr lang="en"/>
            </a:br>
            <a:r>
              <a:rPr lang="en"/>
              <a:t>Amazon Web Services (AWS) is the world's most comprehensive and broadly adopted cloud platform, offering over 200 fully featured services from data centers globally.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61150" y="161150"/>
            <a:ext cx="479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Region and Availability Zones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68600" y="1060925"/>
            <a:ext cx="2444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Region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- separate geographic area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Availability Zones -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isolated locations/ data centers within each Region </a:t>
            </a:r>
            <a:r>
              <a:rPr b="1" lang="en" sz="1200">
                <a:solidFill>
                  <a:srgbClr val="202124"/>
                </a:solidFill>
                <a:highlight>
                  <a:srgbClr val="FFFFFF"/>
                </a:highlight>
              </a:rPr>
              <a:t>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425" y="627975"/>
            <a:ext cx="3945275" cy="40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214875" y="107425"/>
            <a:ext cx="43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Open Sans"/>
                <a:ea typeface="Open Sans"/>
                <a:cs typeface="Open Sans"/>
                <a:sym typeface="Open Sans"/>
              </a:rPr>
              <a:t>AWS Global </a:t>
            </a:r>
            <a:r>
              <a:rPr lang="en" sz="2800">
                <a:latin typeface="Open Sans"/>
                <a:ea typeface="Open Sans"/>
                <a:cs typeface="Open Sans"/>
                <a:sym typeface="Open Sans"/>
              </a:rPr>
              <a:t>Data Centers</a:t>
            </a:r>
            <a:r>
              <a:rPr lang="en" sz="28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-80625" y="1153175"/>
            <a:ext cx="2779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Geographic Regions- 31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Availability Zones     - 99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Edge Locations - 410+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Countries</a:t>
            </a: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- 245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Direct Connect Locations- 115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300" y="1089750"/>
            <a:ext cx="6690849" cy="32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8175" y="4419288"/>
            <a:ext cx="381100" cy="2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2839275" y="4362100"/>
            <a:ext cx="473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Coming soon 5-AWS Region and 15 more Availability Zones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308875" y="228300"/>
            <a:ext cx="664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Understanding AWS Free Tier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255150" y="782400"/>
            <a:ext cx="8514300" cy="3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 Of Offers: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AutoNum type="arabicPeriod"/>
            </a:pPr>
            <a:r>
              <a:rPr b="1"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month Free:</a:t>
            </a:r>
            <a:b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EC2 &amp; ELB - 750 Hour, ECR - 500 MB</a:t>
            </a:r>
            <a:b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S3 &amp; EFS - 5GB, CLoudFront - 1 TB, ELB- 30GB, ECS -  2200 Hours</a:t>
            </a:r>
            <a:b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RDS,ElastiCache - 750 Hours, DynamoDB- 25GB,Redshift- 2 Month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AutoNum type="arabicPeriod"/>
            </a:pPr>
            <a:r>
              <a:rPr b="1"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Always Free: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Lambda,SQS &amp; SNS - 1 million,DynamoDB- 25GB, CloudWatch - 10,SES- 6200 messages/month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AutoNum type="arabicPeriod"/>
            </a:pPr>
            <a:r>
              <a:rPr b="1"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Trials: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Sagemaker &amp; Redshift- 2 months, Appstream 2.0- 40 Hours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120875" y="120875"/>
            <a:ext cx="68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AWS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Organizations and account structure: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25" y="612500"/>
            <a:ext cx="7819575" cy="416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255150" y="174575"/>
            <a:ext cx="51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Configure AWS IAM User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255150" y="996450"/>
            <a:ext cx="86985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95"/>
              <a:buAutoNum type="arabicPeriod"/>
            </a:pPr>
            <a:r>
              <a:rPr lang="en" sz="1695">
                <a:solidFill>
                  <a:srgbClr val="595959"/>
                </a:solidFill>
              </a:rPr>
              <a:t>Create IAM admin user</a:t>
            </a:r>
            <a:endParaRPr sz="1695">
              <a:solidFill>
                <a:srgbClr val="595959"/>
              </a:solidFill>
            </a:endParaRPr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○"/>
            </a:pPr>
            <a:r>
              <a:rPr lang="en" sz="1385">
                <a:solidFill>
                  <a:srgbClr val="595959"/>
                </a:solidFill>
              </a:rPr>
              <a:t>IAM Service -&gt; Users -&gt; Add User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Access Type: Programmatic Access, AWS Management Console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Console password: </a:t>
            </a:r>
            <a:r>
              <a:rPr lang="en" sz="1385">
                <a:solidFill>
                  <a:srgbClr val="595959"/>
                </a:solidFill>
              </a:rPr>
              <a:t>Custom password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Select - </a:t>
            </a:r>
            <a:r>
              <a:rPr lang="en" sz="1385">
                <a:solidFill>
                  <a:srgbClr val="595959"/>
                </a:solidFill>
              </a:rPr>
              <a:t>Users must create a new password at next sign-in </a:t>
            </a:r>
            <a:r>
              <a:rPr lang="en" sz="1385">
                <a:solidFill>
                  <a:srgbClr val="595959"/>
                </a:solidFill>
              </a:rPr>
              <a:t>: Yes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Next Permissions: Attach Existing Policies directly -&gt; Select “Administrator Access”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Review and create User</a:t>
            </a:r>
            <a:endParaRPr sz="1385">
              <a:solidFill>
                <a:srgbClr val="595959"/>
              </a:solidFill>
            </a:endParaRPr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○"/>
            </a:pPr>
            <a:r>
              <a:rPr lang="en" sz="1385">
                <a:solidFill>
                  <a:srgbClr val="595959"/>
                </a:solidFill>
              </a:rPr>
              <a:t>Save credentials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AWS Login URL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IAM username/password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IAM Access key/Secret Access key pair</a:t>
            </a:r>
            <a:endParaRPr sz="1385">
              <a:solidFill>
                <a:srgbClr val="595959"/>
              </a:solidFill>
            </a:endParaRPr>
          </a:p>
          <a:p>
            <a:pPr indent="-316548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■"/>
            </a:pPr>
            <a:r>
              <a:rPr lang="en" sz="1385">
                <a:solidFill>
                  <a:srgbClr val="595959"/>
                </a:solidFill>
              </a:rPr>
              <a:t>Download CSV</a:t>
            </a:r>
            <a:endParaRPr sz="1385">
              <a:solidFill>
                <a:srgbClr val="595959"/>
              </a:solidFill>
            </a:endParaRPr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85"/>
              <a:buChar char="○"/>
            </a:pPr>
            <a:r>
              <a:rPr lang="en" sz="1385">
                <a:solidFill>
                  <a:srgbClr val="595959"/>
                </a:solidFill>
              </a:rPr>
              <a:t>Logout from current root user session and Login back using sign-in link and IAM username/password that you find in the downloaded CSV/Excel</a:t>
            </a:r>
            <a:endParaRPr sz="1385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174600" y="107425"/>
            <a:ext cx="573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Set Billing Alarm for your AWS account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529500" y="912825"/>
            <a:ext cx="77532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 sz="1800">
                <a:solidFill>
                  <a:srgbClr val="595959"/>
                </a:solidFill>
              </a:rPr>
              <a:t>Set Billing Alarm</a:t>
            </a:r>
            <a:endParaRPr sz="1800"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Login to AWS account using Email/Password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Billing Dashboard -&gt; Preferences -&gt; Receive Billing Alerts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Create Billing Alarm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CloudWatch -&gt; Select N.Virginia region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Alarms -&gt; Billing -&gt; Create Billing Alarm</a:t>
            </a:r>
            <a:endParaRPr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 sz="1800">
                <a:solidFill>
                  <a:srgbClr val="595959"/>
                </a:solidFill>
              </a:rPr>
              <a:t>Grant IAM users permissions for Billing and Cost management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My Account -&gt; IAM User and Role Access to Billing Information -&gt; Activate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161150" y="80550"/>
            <a:ext cx="601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Understanding about AWS services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5" y="731175"/>
            <a:ext cx="7588774" cy="397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389450" y="69925"/>
            <a:ext cx="351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Launch EC2 Instance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389450" y="701275"/>
            <a:ext cx="7462800" cy="4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Initiate instance launch </a:t>
            </a:r>
            <a:r>
              <a:rPr lang="en" u="sng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1: Open the Amazon EC2 console at </a:t>
            </a:r>
            <a:r>
              <a:rPr lang="en" u="sng">
                <a:solidFill>
                  <a:schemeClr val="hlink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https://console.aws.amazon.com/ec2/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2: From the Amazon EC2 console dashboard, choose Launch instance.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3: Choose an Amazon Machine Image (AMI)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4: Choose an Instance Type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5: Configure Instance Details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6: Add Storage</a:t>
            </a:r>
            <a:endParaRPr>
              <a:solidFill>
                <a:schemeClr val="dk1"/>
              </a:solidFill>
              <a:highlight>
                <a:srgbClr val="F9F9F9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7: Add Tags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8: Configure Security Group</a:t>
            </a:r>
            <a:endParaRPr>
              <a:solidFill>
                <a:schemeClr val="dk1"/>
              </a:solidFill>
              <a:highlight>
                <a:srgbClr val="F9F9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Step 9: Review Instance Launch and Select Key Pair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/>
        </p:nvSpPr>
        <p:spPr>
          <a:xfrm>
            <a:off x="1392125" y="1567950"/>
            <a:ext cx="650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sz="72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